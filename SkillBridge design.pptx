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oppins" panose="00000500000000000000" pitchFamily="2" charset="0"/>
      <p:regular r:id="rId12"/>
    </p:embeddedFont>
    <p:embeddedFont>
      <p:font typeface="Poppins Bold" panose="020B0604020202020204" charset="0"/>
      <p:regular r:id="rId13"/>
    </p:embeddedFont>
    <p:embeddedFont>
      <p:font typeface="Poppins Bold Italics" panose="020B0604020202020204" charset="0"/>
      <p:regular r:id="rId14"/>
    </p:embeddedFont>
    <p:embeddedFont>
      <p:font typeface="Poppins Heavy" panose="020B0604020202020204" charset="0"/>
      <p:regular r:id="rId15"/>
    </p:embeddedFont>
    <p:embeddedFont>
      <p:font typeface="Poppins Semi-Bold" panose="020B0604020202020204" charset="0"/>
      <p:regular r:id="rId16"/>
    </p:embeddedFont>
    <p:embeddedFont>
      <p:font typeface="Poppins Semi-Bold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82.pn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24625" y="1714500"/>
            <a:ext cx="11553825" cy="7505700"/>
          </a:xfrm>
          <a:custGeom>
            <a:avLst/>
            <a:gdLst/>
            <a:ahLst/>
            <a:cxnLst/>
            <a:rect l="l" t="t" r="r" b="b"/>
            <a:pathLst>
              <a:path w="11553825" h="7505700">
                <a:moveTo>
                  <a:pt x="0" y="0"/>
                </a:moveTo>
                <a:lnTo>
                  <a:pt x="11553825" y="0"/>
                </a:lnTo>
                <a:lnTo>
                  <a:pt x="11553825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401550" y="8353425"/>
            <a:ext cx="5886450" cy="1933575"/>
          </a:xfrm>
          <a:custGeom>
            <a:avLst/>
            <a:gdLst/>
            <a:ahLst/>
            <a:cxnLst/>
            <a:rect l="l" t="t" r="r" b="b"/>
            <a:pathLst>
              <a:path w="5886450" h="1933575">
                <a:moveTo>
                  <a:pt x="0" y="0"/>
                </a:moveTo>
                <a:lnTo>
                  <a:pt x="5886450" y="0"/>
                </a:lnTo>
                <a:lnTo>
                  <a:pt x="58864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582775" y="8572500"/>
            <a:ext cx="3276600" cy="1076325"/>
          </a:xfrm>
          <a:custGeom>
            <a:avLst/>
            <a:gdLst/>
            <a:ahLst/>
            <a:cxnLst/>
            <a:rect l="l" t="t" r="r" b="b"/>
            <a:pathLst>
              <a:path w="3276600" h="1076325">
                <a:moveTo>
                  <a:pt x="0" y="0"/>
                </a:moveTo>
                <a:lnTo>
                  <a:pt x="3276600" y="0"/>
                </a:lnTo>
                <a:lnTo>
                  <a:pt x="3276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713232" y="1283967"/>
            <a:ext cx="8375904" cy="1794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40"/>
              </a:lnSpc>
            </a:pPr>
            <a:r>
              <a:rPr lang="en-US" sz="12540" b="1" spc="-2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SkillBridge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9808" y="3259836"/>
            <a:ext cx="625449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2"/>
              </a:lnSpc>
            </a:pPr>
            <a:r>
              <a:rPr lang="en-US" sz="39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Client-Server Based</a:t>
            </a:r>
          </a:p>
          <a:p>
            <a:pPr algn="l">
              <a:lnSpc>
                <a:spcPts val="4702"/>
              </a:lnSpc>
            </a:pPr>
            <a:r>
              <a:rPr lang="en-US" sz="39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Skill Gap Analysis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9808" y="5391221"/>
            <a:ext cx="2377440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809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Java-based project</a:t>
            </a:r>
          </a:p>
        </p:txBody>
      </p:sp>
      <p:sp>
        <p:nvSpPr>
          <p:cNvPr id="9" name="Freeform 9"/>
          <p:cNvSpPr/>
          <p:nvPr/>
        </p:nvSpPr>
        <p:spPr>
          <a:xfrm>
            <a:off x="3257550" y="5143500"/>
            <a:ext cx="228600" cy="857250"/>
          </a:xfrm>
          <a:custGeom>
            <a:avLst/>
            <a:gdLst/>
            <a:ahLst/>
            <a:cxnLst/>
            <a:rect l="l" t="t" r="r" b="b"/>
            <a:pathLst>
              <a:path w="228600" h="85725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3858768" y="5289780"/>
            <a:ext cx="2103120" cy="631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71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Client-Server Architecture</a:t>
            </a:r>
          </a:p>
        </p:txBody>
      </p:sp>
      <p:sp>
        <p:nvSpPr>
          <p:cNvPr id="11" name="Freeform 11"/>
          <p:cNvSpPr/>
          <p:nvPr/>
        </p:nvSpPr>
        <p:spPr>
          <a:xfrm>
            <a:off x="6096000" y="5143500"/>
            <a:ext cx="219075" cy="857250"/>
          </a:xfrm>
          <a:custGeom>
            <a:avLst/>
            <a:gdLst/>
            <a:ahLst/>
            <a:cxnLst/>
            <a:rect l="l" t="t" r="r" b="b"/>
            <a:pathLst>
              <a:path w="219075" h="857250">
                <a:moveTo>
                  <a:pt x="0" y="0"/>
                </a:moveTo>
                <a:lnTo>
                  <a:pt x="219075" y="0"/>
                </a:lnTo>
                <a:lnTo>
                  <a:pt x="219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6693408" y="5377410"/>
            <a:ext cx="2103120" cy="30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6"/>
              </a:lnSpc>
            </a:pPr>
            <a:r>
              <a:rPr lang="en-US" sz="2146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Multithreading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808" y="6769132"/>
            <a:ext cx="1773936" cy="244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762" b="1">
                <a:solidFill>
                  <a:srgbClr val="00C4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808" y="7157662"/>
            <a:ext cx="2670048" cy="2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20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Swati, Vidhi, Paritosh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808" y="8085868"/>
            <a:ext cx="1408176" cy="244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762" b="1">
                <a:solidFill>
                  <a:srgbClr val="00C4FF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808" y="8479816"/>
            <a:ext cx="4718304" cy="27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Graphic Era Deemed to be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048625" y="0"/>
            <a:ext cx="10239375" cy="10287000"/>
          </a:xfrm>
          <a:custGeom>
            <a:avLst/>
            <a:gdLst/>
            <a:ahLst/>
            <a:cxnLst/>
            <a:rect l="l" t="t" r="r" b="b"/>
            <a:pathLst>
              <a:path w="10239375" h="10287000">
                <a:moveTo>
                  <a:pt x="0" y="0"/>
                </a:moveTo>
                <a:lnTo>
                  <a:pt x="10239375" y="0"/>
                </a:lnTo>
                <a:lnTo>
                  <a:pt x="10239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731520" y="1145795"/>
            <a:ext cx="5852160" cy="105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4"/>
              </a:lnSpc>
            </a:pPr>
            <a:r>
              <a:rPr lang="en-US" sz="7444" b="1" spc="-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2677315"/>
            <a:ext cx="7095744" cy="1561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3427" b="1">
                <a:solidFill>
                  <a:srgbClr val="38B6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SkillBridge</a:t>
            </a:r>
            <a:r>
              <a:rPr lang="en-US" sz="34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is a client-server based platform for career guidance and skill gap analysis.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4939032"/>
            <a:ext cx="8577072" cy="35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Compares </a:t>
            </a:r>
            <a:r>
              <a:rPr lang="en-US" sz="2298" b="1" i="1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current student skills</a:t>
            </a:r>
            <a:r>
              <a:rPr lang="en-US" sz="22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with career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5741418"/>
            <a:ext cx="4846320" cy="35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Identifies </a:t>
            </a:r>
            <a:r>
              <a:rPr lang="en-US" sz="2298" b="1" i="1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missing or weak skills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" y="6539076"/>
            <a:ext cx="5047488" cy="35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Calculates </a:t>
            </a:r>
            <a:r>
              <a:rPr lang="en-US" sz="2271" b="1" i="1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skill match</a:t>
            </a:r>
            <a:r>
              <a:rPr lang="en-US" sz="22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percentage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520" y="7341496"/>
            <a:ext cx="7918704" cy="35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</a:t>
            </a:r>
            <a:r>
              <a:rPr lang="en-US" sz="2244" b="1" i="1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personalized</a:t>
            </a:r>
            <a:r>
              <a:rPr lang="en-US" sz="22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improvement recommendations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8133595"/>
            <a:ext cx="7699248" cy="35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Supports </a:t>
            </a:r>
            <a:r>
              <a:rPr lang="en-US" sz="2244" b="1" i="1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multiple users</a:t>
            </a:r>
            <a:r>
              <a:rPr lang="en-US" sz="22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via client-server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267700" y="857250"/>
            <a:ext cx="10020300" cy="9429750"/>
          </a:xfrm>
          <a:custGeom>
            <a:avLst/>
            <a:gdLst/>
            <a:ahLst/>
            <a:cxnLst/>
            <a:rect l="l" t="t" r="r" b="b"/>
            <a:pathLst>
              <a:path w="10020300" h="9429750">
                <a:moveTo>
                  <a:pt x="0" y="0"/>
                </a:moveTo>
                <a:lnTo>
                  <a:pt x="10020300" y="0"/>
                </a:lnTo>
                <a:lnTo>
                  <a:pt x="10020300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694944" y="1064204"/>
            <a:ext cx="8723376" cy="107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5"/>
              </a:lnSpc>
            </a:pPr>
            <a:r>
              <a:rPr lang="en-US" sz="7068" b="1" spc="-1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4944" y="2656981"/>
            <a:ext cx="6839712" cy="1036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32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 struggle to understand what </a:t>
            </a:r>
            <a:r>
              <a:rPr lang="en-US" sz="3204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skills careers</a:t>
            </a:r>
            <a:r>
              <a:rPr lang="en-US" sz="32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really require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4944" y="4050530"/>
            <a:ext cx="6016752" cy="93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29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 to know which </a:t>
            </a:r>
            <a:r>
              <a:rPr lang="en-US" sz="2917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skills</a:t>
            </a:r>
            <a:r>
              <a:rPr lang="en-US" sz="29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they are </a:t>
            </a:r>
            <a:r>
              <a:rPr lang="en-US" sz="2917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missing</a:t>
            </a:r>
            <a:r>
              <a:rPr lang="en-US" sz="29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their target roles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4944" y="5362462"/>
            <a:ext cx="6016752" cy="1036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32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Every career demands a </a:t>
            </a:r>
            <a:r>
              <a:rPr lang="en-US" sz="3204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different set of skills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4944" y="6973791"/>
            <a:ext cx="5504688" cy="56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7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comparison of skills is </a:t>
            </a:r>
            <a:r>
              <a:rPr lang="en-US" sz="1789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time-consuming</a:t>
            </a:r>
            <a:r>
              <a:rPr lang="en-US" sz="17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1789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complex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4944" y="8153955"/>
            <a:ext cx="7717536" cy="906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8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 need a </a:t>
            </a:r>
            <a:r>
              <a:rPr lang="en-US" sz="2814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simple</a:t>
            </a:r>
            <a:r>
              <a:rPr lang="en-US" sz="28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14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fast</a:t>
            </a:r>
            <a:r>
              <a:rPr lang="en-US" sz="28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14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personalized</a:t>
            </a:r>
            <a:r>
              <a:rPr lang="en-US" sz="28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system that quickly identifies </a:t>
            </a:r>
            <a:r>
              <a:rPr lang="en-US" sz="2814" b="1" i="1">
                <a:solidFill>
                  <a:srgbClr val="00C2C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skill gaps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31520" y="988123"/>
            <a:ext cx="8449056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2"/>
              </a:lnSpc>
            </a:pPr>
            <a:r>
              <a:rPr lang="en-US" sz="6993" b="1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Proposed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2300279"/>
            <a:ext cx="9619488" cy="95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519" b="1">
                <a:solidFill>
                  <a:srgbClr val="37C9F4"/>
                </a:solidFill>
                <a:latin typeface="Poppins Bold"/>
                <a:ea typeface="Poppins Bold"/>
                <a:cs typeface="Poppins Bold"/>
                <a:sym typeface="Poppins Bold"/>
              </a:rPr>
              <a:t>SkillBridge</a:t>
            </a:r>
            <a:r>
              <a:rPr lang="en-US" sz="25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analyzes your skills and career goals to identify gaps and deliver a clear path forward.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3638550"/>
            <a:ext cx="2619375" cy="4295775"/>
          </a:xfrm>
          <a:custGeom>
            <a:avLst/>
            <a:gdLst/>
            <a:ahLst/>
            <a:cxnLst/>
            <a:rect l="l" t="t" r="r" b="b"/>
            <a:pathLst>
              <a:path w="2619375" h="4295775">
                <a:moveTo>
                  <a:pt x="0" y="0"/>
                </a:moveTo>
                <a:lnTo>
                  <a:pt x="2619375" y="0"/>
                </a:lnTo>
                <a:lnTo>
                  <a:pt x="26193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950976" y="4006787"/>
            <a:ext cx="64008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3"/>
              </a:lnSpc>
            </a:pPr>
            <a:r>
              <a:rPr lang="en-US" sz="4469" b="1">
                <a:solidFill>
                  <a:srgbClr val="37C9F4"/>
                </a:solidFill>
                <a:latin typeface="Poppins Heavy"/>
                <a:ea typeface="Poppins Heavy"/>
                <a:cs typeface="Poppins Heavy"/>
                <a:sym typeface="Poppins Heavy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866775" y="4924425"/>
            <a:ext cx="2181225" cy="219075"/>
          </a:xfrm>
          <a:custGeom>
            <a:avLst/>
            <a:gdLst/>
            <a:ahLst/>
            <a:cxnLst/>
            <a:rect l="l" t="t" r="r" b="b"/>
            <a:pathLst>
              <a:path w="2181225" h="21907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987552" y="5346049"/>
            <a:ext cx="1883664" cy="144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 enter your </a:t>
            </a:r>
            <a:r>
              <a:rPr lang="en-US" sz="1912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existing skills</a:t>
            </a: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select your </a:t>
            </a:r>
            <a:r>
              <a:rPr lang="en-US" sz="1912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target career</a:t>
            </a:r>
          </a:p>
        </p:txBody>
      </p:sp>
      <p:sp>
        <p:nvSpPr>
          <p:cNvPr id="9" name="Freeform 9"/>
          <p:cNvSpPr/>
          <p:nvPr/>
        </p:nvSpPr>
        <p:spPr>
          <a:xfrm>
            <a:off x="3048000" y="55721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3476625" y="3638550"/>
            <a:ext cx="2619375" cy="4295775"/>
          </a:xfrm>
          <a:custGeom>
            <a:avLst/>
            <a:gdLst/>
            <a:ahLst/>
            <a:cxnLst/>
            <a:rect l="l" t="t" r="r" b="b"/>
            <a:pathLst>
              <a:path w="2619375" h="4295775">
                <a:moveTo>
                  <a:pt x="0" y="0"/>
                </a:moveTo>
                <a:lnTo>
                  <a:pt x="2619375" y="0"/>
                </a:lnTo>
                <a:lnTo>
                  <a:pt x="26193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3840480" y="4006787"/>
            <a:ext cx="73152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3"/>
              </a:lnSpc>
            </a:pPr>
            <a:r>
              <a:rPr lang="en-US" sz="4469" b="1">
                <a:solidFill>
                  <a:srgbClr val="37C9F4"/>
                </a:solidFill>
                <a:latin typeface="Poppins Heavy"/>
                <a:ea typeface="Poppins Heavy"/>
                <a:cs typeface="Poppins Heavy"/>
                <a:sym typeface="Poppins Heavy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3695700" y="4924425"/>
            <a:ext cx="2190750" cy="219075"/>
          </a:xfrm>
          <a:custGeom>
            <a:avLst/>
            <a:gdLst/>
            <a:ahLst/>
            <a:cxnLst/>
            <a:rect l="l" t="t" r="r" b="b"/>
            <a:pathLst>
              <a:path w="2190750" h="219075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3858768" y="5273165"/>
            <a:ext cx="1938528" cy="1959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0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SkillBridge</a:t>
            </a:r>
            <a:r>
              <a:rPr lang="en-US" sz="2076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sz="20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retrieves the </a:t>
            </a:r>
            <a:r>
              <a:rPr lang="en-US" sz="2076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required skills</a:t>
            </a:r>
            <a:r>
              <a:rPr lang="en-US" sz="20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your chosen career</a:t>
            </a:r>
          </a:p>
        </p:txBody>
      </p:sp>
      <p:sp>
        <p:nvSpPr>
          <p:cNvPr id="14" name="Freeform 14"/>
          <p:cNvSpPr/>
          <p:nvPr/>
        </p:nvSpPr>
        <p:spPr>
          <a:xfrm>
            <a:off x="6096000" y="557212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6305550" y="3638550"/>
            <a:ext cx="2628900" cy="4295775"/>
          </a:xfrm>
          <a:custGeom>
            <a:avLst/>
            <a:gdLst/>
            <a:ahLst/>
            <a:cxnLst/>
            <a:rect l="l" t="t" r="r" b="b"/>
            <a:pathLst>
              <a:path w="2628900" h="4295775">
                <a:moveTo>
                  <a:pt x="0" y="0"/>
                </a:moveTo>
                <a:lnTo>
                  <a:pt x="2628900" y="0"/>
                </a:lnTo>
                <a:lnTo>
                  <a:pt x="262890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6693408" y="4006787"/>
            <a:ext cx="73152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3"/>
              </a:lnSpc>
            </a:pPr>
            <a:r>
              <a:rPr lang="en-US" sz="4469" b="1">
                <a:solidFill>
                  <a:srgbClr val="37C9F4"/>
                </a:solidFill>
                <a:latin typeface="Poppins Heavy"/>
                <a:ea typeface="Poppins Heavy"/>
                <a:cs typeface="Poppins Heavy"/>
                <a:sym typeface="Poppins Heavy"/>
              </a:rPr>
              <a:t>03</a:t>
            </a:r>
          </a:p>
        </p:txBody>
      </p:sp>
      <p:sp>
        <p:nvSpPr>
          <p:cNvPr id="17" name="Freeform 17"/>
          <p:cNvSpPr/>
          <p:nvPr/>
        </p:nvSpPr>
        <p:spPr>
          <a:xfrm>
            <a:off x="6524625" y="4924425"/>
            <a:ext cx="2190750" cy="219075"/>
          </a:xfrm>
          <a:custGeom>
            <a:avLst/>
            <a:gdLst/>
            <a:ahLst/>
            <a:cxnLst/>
            <a:rect l="l" t="t" r="r" b="b"/>
            <a:pathLst>
              <a:path w="2190750" h="219075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6729984" y="5305610"/>
            <a:ext cx="1755648" cy="190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20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</a:t>
            </a:r>
            <a:r>
              <a:rPr lang="en-US" sz="2029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compares</a:t>
            </a:r>
            <a:r>
              <a:rPr lang="en-US" sz="20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your current skills with the required skills</a:t>
            </a:r>
          </a:p>
        </p:txBody>
      </p:sp>
      <p:sp>
        <p:nvSpPr>
          <p:cNvPr id="19" name="Freeform 19"/>
          <p:cNvSpPr/>
          <p:nvPr/>
        </p:nvSpPr>
        <p:spPr>
          <a:xfrm>
            <a:off x="8924925" y="557212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9144000" y="3638550"/>
            <a:ext cx="2838450" cy="4295775"/>
          </a:xfrm>
          <a:custGeom>
            <a:avLst/>
            <a:gdLst/>
            <a:ahLst/>
            <a:cxnLst/>
            <a:rect l="l" t="t" r="r" b="b"/>
            <a:pathLst>
              <a:path w="2838450" h="4295775">
                <a:moveTo>
                  <a:pt x="0" y="0"/>
                </a:moveTo>
                <a:lnTo>
                  <a:pt x="2838450" y="0"/>
                </a:lnTo>
                <a:lnTo>
                  <a:pt x="283845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9582912" y="4035362"/>
            <a:ext cx="731520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4"/>
              </a:lnSpc>
            </a:pPr>
            <a:r>
              <a:rPr lang="en-US" sz="4195" b="1">
                <a:solidFill>
                  <a:srgbClr val="37C9F4"/>
                </a:solidFill>
                <a:latin typeface="Poppins Heavy"/>
                <a:ea typeface="Poppins Heavy"/>
                <a:cs typeface="Poppins Heavy"/>
                <a:sym typeface="Poppins Heavy"/>
              </a:rPr>
              <a:t>04</a:t>
            </a:r>
          </a:p>
        </p:txBody>
      </p:sp>
      <p:sp>
        <p:nvSpPr>
          <p:cNvPr id="22" name="Freeform 22"/>
          <p:cNvSpPr/>
          <p:nvPr/>
        </p:nvSpPr>
        <p:spPr>
          <a:xfrm>
            <a:off x="9572625" y="4924425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9601200" y="5346049"/>
            <a:ext cx="1755648" cy="144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identifies </a:t>
            </a:r>
            <a:r>
              <a:rPr lang="en-US" sz="1912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missing</a:t>
            </a: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12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skills</a:t>
            </a:r>
            <a:r>
              <a:rPr lang="en-US" sz="1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highlights the gaps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1753850" y="557212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>
            <a:off x="12192000" y="3638550"/>
            <a:ext cx="2619375" cy="4295775"/>
          </a:xfrm>
          <a:custGeom>
            <a:avLst/>
            <a:gdLst/>
            <a:ahLst/>
            <a:cxnLst/>
            <a:rect l="l" t="t" r="r" b="b"/>
            <a:pathLst>
              <a:path w="2619375" h="4295775">
                <a:moveTo>
                  <a:pt x="0" y="0"/>
                </a:moveTo>
                <a:lnTo>
                  <a:pt x="2619375" y="0"/>
                </a:lnTo>
                <a:lnTo>
                  <a:pt x="26193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12454128" y="4016311"/>
            <a:ext cx="73152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7"/>
              </a:lnSpc>
            </a:pPr>
            <a:r>
              <a:rPr lang="en-US" sz="4347" b="1">
                <a:solidFill>
                  <a:srgbClr val="37C9F4"/>
                </a:solidFill>
                <a:latin typeface="Poppins Heavy"/>
                <a:ea typeface="Poppins Heavy"/>
                <a:cs typeface="Poppins Heavy"/>
                <a:sym typeface="Poppins Heavy"/>
              </a:rPr>
              <a:t>05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401550" y="4924425"/>
            <a:ext cx="2190750" cy="219075"/>
          </a:xfrm>
          <a:custGeom>
            <a:avLst/>
            <a:gdLst/>
            <a:ahLst/>
            <a:cxnLst/>
            <a:rect l="l" t="t" r="r" b="b"/>
            <a:pathLst>
              <a:path w="2190750" h="219075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12472416" y="5318814"/>
            <a:ext cx="1938528" cy="148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SkillBridge calculates your </a:t>
            </a:r>
            <a:r>
              <a:rPr lang="en-US" sz="1982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skill match</a:t>
            </a:r>
            <a:r>
              <a:rPr lang="en-US" sz="19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percentage</a:t>
            </a:r>
          </a:p>
        </p:txBody>
      </p:sp>
      <p:sp>
        <p:nvSpPr>
          <p:cNvPr id="29" name="Freeform 29"/>
          <p:cNvSpPr/>
          <p:nvPr/>
        </p:nvSpPr>
        <p:spPr>
          <a:xfrm>
            <a:off x="14582775" y="557212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5020925" y="3638550"/>
            <a:ext cx="2619375" cy="4295775"/>
          </a:xfrm>
          <a:custGeom>
            <a:avLst/>
            <a:gdLst/>
            <a:ahLst/>
            <a:cxnLst/>
            <a:rect l="l" t="t" r="r" b="b"/>
            <a:pathLst>
              <a:path w="2619375" h="4295775">
                <a:moveTo>
                  <a:pt x="0" y="0"/>
                </a:moveTo>
                <a:lnTo>
                  <a:pt x="2619375" y="0"/>
                </a:lnTo>
                <a:lnTo>
                  <a:pt x="261937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31"/>
          <p:cNvSpPr txBox="1"/>
          <p:nvPr/>
        </p:nvSpPr>
        <p:spPr>
          <a:xfrm>
            <a:off x="15307056" y="4006787"/>
            <a:ext cx="73152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4439" b="1">
                <a:solidFill>
                  <a:srgbClr val="37C9F4"/>
                </a:solidFill>
                <a:latin typeface="Poppins Heavy"/>
                <a:ea typeface="Poppins Heavy"/>
                <a:cs typeface="Poppins Heavy"/>
                <a:sym typeface="Poppins Heavy"/>
              </a:rPr>
              <a:t>06</a:t>
            </a:r>
          </a:p>
        </p:txBody>
      </p:sp>
      <p:sp>
        <p:nvSpPr>
          <p:cNvPr id="32" name="Freeform 32"/>
          <p:cNvSpPr/>
          <p:nvPr/>
        </p:nvSpPr>
        <p:spPr>
          <a:xfrm>
            <a:off x="15240000" y="4924425"/>
            <a:ext cx="2181225" cy="219075"/>
          </a:xfrm>
          <a:custGeom>
            <a:avLst/>
            <a:gdLst/>
            <a:ahLst/>
            <a:cxnLst/>
            <a:rect l="l" t="t" r="r" b="b"/>
            <a:pathLst>
              <a:path w="2181225" h="21907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TextBox 33"/>
          <p:cNvSpPr txBox="1"/>
          <p:nvPr/>
        </p:nvSpPr>
        <p:spPr>
          <a:xfrm>
            <a:off x="15361920" y="5622762"/>
            <a:ext cx="2011680" cy="126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6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 receive a </a:t>
            </a:r>
            <a:r>
              <a:rPr lang="en-US" sz="1678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personalized</a:t>
            </a:r>
            <a:r>
              <a:rPr lang="en-US" sz="16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78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Skill Gap</a:t>
            </a:r>
            <a:r>
              <a:rPr lang="en-US" sz="16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78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Report</a:t>
            </a:r>
            <a:r>
              <a:rPr lang="en-US" sz="16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with recommendations</a:t>
            </a:r>
          </a:p>
        </p:txBody>
      </p:sp>
      <p:sp>
        <p:nvSpPr>
          <p:cNvPr id="34" name="Freeform 34"/>
          <p:cNvSpPr/>
          <p:nvPr/>
        </p:nvSpPr>
        <p:spPr>
          <a:xfrm>
            <a:off x="647700" y="8143875"/>
            <a:ext cx="16992600" cy="1285875"/>
          </a:xfrm>
          <a:custGeom>
            <a:avLst/>
            <a:gdLst/>
            <a:ahLst/>
            <a:cxnLst/>
            <a:rect l="l" t="t" r="r" b="b"/>
            <a:pathLst>
              <a:path w="16992600" h="1285875">
                <a:moveTo>
                  <a:pt x="0" y="0"/>
                </a:moveTo>
                <a:lnTo>
                  <a:pt x="16992600" y="0"/>
                </a:lnTo>
                <a:lnTo>
                  <a:pt x="16992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TextBox 35"/>
          <p:cNvSpPr txBox="1"/>
          <p:nvPr/>
        </p:nvSpPr>
        <p:spPr>
          <a:xfrm>
            <a:off x="3840480" y="8523113"/>
            <a:ext cx="10680192" cy="459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6"/>
              </a:lnSpc>
            </a:pPr>
            <a:r>
              <a:rPr lang="en-US" sz="24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Clear </a:t>
            </a:r>
            <a:r>
              <a:rPr lang="en-US" sz="2437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insights.</a:t>
            </a:r>
            <a:r>
              <a:rPr lang="en-US" sz="24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Measurable </a:t>
            </a:r>
            <a:r>
              <a:rPr lang="en-US" sz="2437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match.</a:t>
            </a:r>
            <a:r>
              <a:rPr lang="en-US" sz="24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Personalized </a:t>
            </a:r>
            <a:r>
              <a:rPr lang="en-US" sz="2437" b="1" i="1">
                <a:solidFill>
                  <a:srgbClr val="37C9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010775" y="0"/>
            <a:ext cx="8277225" cy="7715250"/>
          </a:xfrm>
          <a:custGeom>
            <a:avLst/>
            <a:gdLst/>
            <a:ahLst/>
            <a:cxnLst/>
            <a:rect l="l" t="t" r="r" b="b"/>
            <a:pathLst>
              <a:path w="8277225" h="7715250">
                <a:moveTo>
                  <a:pt x="0" y="0"/>
                </a:moveTo>
                <a:lnTo>
                  <a:pt x="8277225" y="0"/>
                </a:lnTo>
                <a:lnTo>
                  <a:pt x="8277225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6743700" y="7715250"/>
            <a:ext cx="2838450" cy="2571750"/>
          </a:xfrm>
          <a:custGeom>
            <a:avLst/>
            <a:gdLst/>
            <a:ahLst/>
            <a:cxnLst/>
            <a:rect l="l" t="t" r="r" b="b"/>
            <a:pathLst>
              <a:path w="2838450" h="2571750">
                <a:moveTo>
                  <a:pt x="0" y="0"/>
                </a:moveTo>
                <a:lnTo>
                  <a:pt x="2838450" y="0"/>
                </a:lnTo>
                <a:lnTo>
                  <a:pt x="28384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8486775" y="857250"/>
            <a:ext cx="9801225" cy="9429750"/>
          </a:xfrm>
          <a:custGeom>
            <a:avLst/>
            <a:gdLst/>
            <a:ahLst/>
            <a:cxnLst/>
            <a:rect l="l" t="t" r="r" b="b"/>
            <a:pathLst>
              <a:path w="9801225" h="9429750">
                <a:moveTo>
                  <a:pt x="0" y="0"/>
                </a:moveTo>
                <a:lnTo>
                  <a:pt x="9801225" y="0"/>
                </a:lnTo>
                <a:lnTo>
                  <a:pt x="9801225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713232" y="1183210"/>
            <a:ext cx="4700016" cy="96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8"/>
              </a:lnSpc>
            </a:pPr>
            <a:r>
              <a:rPr lang="en-US" sz="67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3232" y="2717411"/>
            <a:ext cx="7004304" cy="44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9"/>
              </a:lnSpc>
            </a:pPr>
            <a:r>
              <a:rPr lang="en-US" sz="2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 students' </a:t>
            </a:r>
            <a:r>
              <a:rPr lang="en-US" sz="2568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existing skills</a:t>
            </a:r>
            <a:r>
              <a:rPr lang="en-US" sz="2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accurately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3232" y="3519797"/>
            <a:ext cx="6912864" cy="44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9"/>
              </a:lnSpc>
            </a:pPr>
            <a:r>
              <a:rPr lang="en-US" sz="2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Analyze </a:t>
            </a:r>
            <a:r>
              <a:rPr lang="en-US" sz="2568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career-specific</a:t>
            </a:r>
            <a:r>
              <a:rPr lang="en-US" sz="2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skill requirements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3232" y="4388129"/>
            <a:ext cx="4901184" cy="43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6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Detect </a:t>
            </a:r>
            <a:r>
              <a:rPr lang="en-US" sz="2603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missing or weak skills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3232" y="5230993"/>
            <a:ext cx="7004304" cy="42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Claculate </a:t>
            </a:r>
            <a:r>
              <a:rPr lang="en-US" sz="2498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skill match percentage</a:t>
            </a:r>
            <a:r>
              <a:rPr lang="en-US" sz="24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precisely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3232" y="6095324"/>
            <a:ext cx="7827264" cy="42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3"/>
              </a:lnSpc>
            </a:pPr>
            <a:r>
              <a:rPr lang="en-US" sz="25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 </a:t>
            </a:r>
            <a:r>
              <a:rPr lang="en-US" sz="2533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personalized</a:t>
            </a:r>
            <a:r>
              <a:rPr lang="en-US" sz="25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improvement suggestions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3232" y="6930003"/>
            <a:ext cx="7626096" cy="442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6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</a:t>
            </a:r>
            <a:r>
              <a:rPr lang="en-US" sz="2639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multiple clients</a:t>
            </a:r>
            <a:r>
              <a:rPr lang="en-US" sz="26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with </a:t>
            </a:r>
            <a:r>
              <a:rPr lang="en-US" sz="2639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multithreading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232" y="7768328"/>
            <a:ext cx="5980176" cy="44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9"/>
              </a:lnSpc>
            </a:pPr>
            <a:r>
              <a:rPr lang="en-US" sz="2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Enhance students’ </a:t>
            </a:r>
            <a:r>
              <a:rPr lang="en-US" sz="2568" b="1" i="1">
                <a:solidFill>
                  <a:srgbClr val="00C4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career readiness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31520" y="771806"/>
            <a:ext cx="9564624" cy="1053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7"/>
              </a:lnSpc>
            </a:pPr>
            <a:r>
              <a:rPr lang="en-US" sz="7357" b="1" spc="-1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8096" y="2105787"/>
            <a:ext cx="980236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662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Client–server design enabling </a:t>
            </a:r>
            <a:r>
              <a:rPr lang="en-US" sz="2662" b="1" i="1" spc="-53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concurrent skill gap analysis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3209925"/>
            <a:ext cx="2838450" cy="1933575"/>
          </a:xfrm>
          <a:custGeom>
            <a:avLst/>
            <a:gdLst/>
            <a:ahLst/>
            <a:cxnLst/>
            <a:rect l="l" t="t" r="r" b="b"/>
            <a:pathLst>
              <a:path w="2838450" h="1933575">
                <a:moveTo>
                  <a:pt x="0" y="0"/>
                </a:moveTo>
                <a:lnTo>
                  <a:pt x="2838450" y="0"/>
                </a:lnTo>
                <a:lnTo>
                  <a:pt x="28384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426464" y="3551872"/>
            <a:ext cx="118872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9"/>
              </a:lnSpc>
            </a:pPr>
            <a:r>
              <a:rPr lang="en-US" sz="2674" b="1" spc="-53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Client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5568" y="4069716"/>
            <a:ext cx="1865376" cy="58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1780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interface for input and results</a:t>
            </a:r>
          </a:p>
        </p:txBody>
      </p:sp>
      <p:sp>
        <p:nvSpPr>
          <p:cNvPr id="8" name="Freeform 8"/>
          <p:cNvSpPr/>
          <p:nvPr/>
        </p:nvSpPr>
        <p:spPr>
          <a:xfrm>
            <a:off x="647700" y="5143500"/>
            <a:ext cx="2838450" cy="1933575"/>
          </a:xfrm>
          <a:custGeom>
            <a:avLst/>
            <a:gdLst/>
            <a:ahLst/>
            <a:cxnLst/>
            <a:rect l="l" t="t" r="r" b="b"/>
            <a:pathLst>
              <a:path w="2838450" h="1933575">
                <a:moveTo>
                  <a:pt x="0" y="0"/>
                </a:moveTo>
                <a:lnTo>
                  <a:pt x="2838450" y="0"/>
                </a:lnTo>
                <a:lnTo>
                  <a:pt x="28384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426464" y="5515928"/>
            <a:ext cx="11887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0"/>
              </a:lnSpc>
            </a:pPr>
            <a:r>
              <a:rPr lang="en-US" sz="2533" b="1" spc="-50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Client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5568" y="6024246"/>
            <a:ext cx="1865376" cy="58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1780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interface for input and results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7700" y="7067550"/>
            <a:ext cx="2838450" cy="1933575"/>
          </a:xfrm>
          <a:custGeom>
            <a:avLst/>
            <a:gdLst/>
            <a:ahLst/>
            <a:cxnLst/>
            <a:rect l="l" t="t" r="r" b="b"/>
            <a:pathLst>
              <a:path w="2838450" h="1933575">
                <a:moveTo>
                  <a:pt x="0" y="0"/>
                </a:moveTo>
                <a:lnTo>
                  <a:pt x="2838450" y="0"/>
                </a:lnTo>
                <a:lnTo>
                  <a:pt x="28384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426464" y="7484745"/>
            <a:ext cx="118872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sz="2498" b="1" spc="-49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Client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5568" y="7978776"/>
            <a:ext cx="1865376" cy="58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1780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interface for input and results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57550" y="3638550"/>
            <a:ext cx="2190750" cy="438150"/>
          </a:xfrm>
          <a:custGeom>
            <a:avLst/>
            <a:gdLst/>
            <a:ahLst/>
            <a:cxnLst/>
            <a:rect l="l" t="t" r="r" b="b"/>
            <a:pathLst>
              <a:path w="2190750" h="4381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3257550" y="4067175"/>
            <a:ext cx="2190750" cy="438150"/>
          </a:xfrm>
          <a:custGeom>
            <a:avLst/>
            <a:gdLst/>
            <a:ahLst/>
            <a:cxnLst/>
            <a:rect l="l" t="t" r="r" b="b"/>
            <a:pathLst>
              <a:path w="2190750" h="4381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3257550" y="5572125"/>
            <a:ext cx="2190750" cy="428625"/>
          </a:xfrm>
          <a:custGeom>
            <a:avLst/>
            <a:gdLst/>
            <a:ahLst/>
            <a:cxnLst/>
            <a:rect l="l" t="t" r="r" b="b"/>
            <a:pathLst>
              <a:path w="2190750" h="428625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3257550" y="6000750"/>
            <a:ext cx="2190750" cy="428625"/>
          </a:xfrm>
          <a:custGeom>
            <a:avLst/>
            <a:gdLst/>
            <a:ahLst/>
            <a:cxnLst/>
            <a:rect l="l" t="t" r="r" b="b"/>
            <a:pathLst>
              <a:path w="2190750" h="428625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3257550" y="7496175"/>
            <a:ext cx="2190750" cy="438150"/>
          </a:xfrm>
          <a:custGeom>
            <a:avLst/>
            <a:gdLst/>
            <a:ahLst/>
            <a:cxnLst/>
            <a:rect l="l" t="t" r="r" b="b"/>
            <a:pathLst>
              <a:path w="2190750" h="4381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3257550" y="7924800"/>
            <a:ext cx="2190750" cy="438150"/>
          </a:xfrm>
          <a:custGeom>
            <a:avLst/>
            <a:gdLst/>
            <a:ahLst/>
            <a:cxnLst/>
            <a:rect l="l" t="t" r="r" b="b"/>
            <a:pathLst>
              <a:path w="2190750" h="4381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5219700" y="3209925"/>
            <a:ext cx="3924300" cy="5791200"/>
          </a:xfrm>
          <a:custGeom>
            <a:avLst/>
            <a:gdLst/>
            <a:ahLst/>
            <a:cxnLst/>
            <a:rect l="l" t="t" r="r" b="b"/>
            <a:pathLst>
              <a:path w="3924300" h="5791200">
                <a:moveTo>
                  <a:pt x="0" y="0"/>
                </a:moveTo>
                <a:lnTo>
                  <a:pt x="3924300" y="0"/>
                </a:lnTo>
                <a:lnTo>
                  <a:pt x="39243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6675120" y="3637407"/>
            <a:ext cx="102412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sz="2498" b="1" spc="-49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Server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32704" y="4428738"/>
            <a:ext cx="3127248" cy="928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5"/>
              </a:lnSpc>
            </a:pPr>
            <a:r>
              <a:rPr lang="en-US" sz="1889" spc="-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Receives requests, processes data, and performs skill comparisons</a:t>
            </a:r>
          </a:p>
        </p:txBody>
      </p:sp>
      <p:sp>
        <p:nvSpPr>
          <p:cNvPr id="23" name="Freeform 23"/>
          <p:cNvSpPr/>
          <p:nvPr/>
        </p:nvSpPr>
        <p:spPr>
          <a:xfrm>
            <a:off x="5657850" y="6000750"/>
            <a:ext cx="3057525" cy="2571750"/>
          </a:xfrm>
          <a:custGeom>
            <a:avLst/>
            <a:gdLst/>
            <a:ahLst/>
            <a:cxnLst/>
            <a:rect l="l" t="t" r="r" b="b"/>
            <a:pathLst>
              <a:path w="3057525" h="2571750">
                <a:moveTo>
                  <a:pt x="0" y="0"/>
                </a:moveTo>
                <a:lnTo>
                  <a:pt x="3057525" y="0"/>
                </a:lnTo>
                <a:lnTo>
                  <a:pt x="30575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6217920" y="6392037"/>
            <a:ext cx="197510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062" b="1" spc="-41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Multithreading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72784" y="6974062"/>
            <a:ext cx="1847088" cy="118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8"/>
              </a:lnSpc>
            </a:pPr>
            <a:r>
              <a:rPr lang="en-US" sz="1837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Separate thread per client for simultaneous processing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8924925" y="5572125"/>
            <a:ext cx="1533525" cy="428625"/>
          </a:xfrm>
          <a:custGeom>
            <a:avLst/>
            <a:gdLst/>
            <a:ahLst/>
            <a:cxnLst/>
            <a:rect l="l" t="t" r="r" b="b"/>
            <a:pathLst>
              <a:path w="1533525" h="428625">
                <a:moveTo>
                  <a:pt x="0" y="0"/>
                </a:moveTo>
                <a:lnTo>
                  <a:pt x="1533525" y="0"/>
                </a:lnTo>
                <a:lnTo>
                  <a:pt x="1533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10229850" y="4714875"/>
            <a:ext cx="3057525" cy="2362200"/>
          </a:xfrm>
          <a:custGeom>
            <a:avLst/>
            <a:gdLst/>
            <a:ahLst/>
            <a:cxnLst/>
            <a:rect l="l" t="t" r="r" b="b"/>
            <a:pathLst>
              <a:path w="3057525" h="2362200">
                <a:moveTo>
                  <a:pt x="0" y="0"/>
                </a:moveTo>
                <a:lnTo>
                  <a:pt x="3057525" y="0"/>
                </a:lnTo>
                <a:lnTo>
                  <a:pt x="30575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10844784" y="5061775"/>
            <a:ext cx="188366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275" b="1" spc="-45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Skill Analysis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98480" y="5688896"/>
            <a:ext cx="2139696" cy="928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5"/>
              </a:lnSpc>
            </a:pPr>
            <a:r>
              <a:rPr lang="en-US" sz="1889" spc="-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Compares current skills with career requirements</a:t>
            </a:r>
          </a:p>
        </p:txBody>
      </p:sp>
      <p:sp>
        <p:nvSpPr>
          <p:cNvPr id="30" name="Freeform 30"/>
          <p:cNvSpPr/>
          <p:nvPr/>
        </p:nvSpPr>
        <p:spPr>
          <a:xfrm>
            <a:off x="8924925" y="6858000"/>
            <a:ext cx="3057525" cy="1504950"/>
          </a:xfrm>
          <a:custGeom>
            <a:avLst/>
            <a:gdLst/>
            <a:ahLst/>
            <a:cxnLst/>
            <a:rect l="l" t="t" r="r" b="b"/>
            <a:pathLst>
              <a:path w="3057525" h="1504950">
                <a:moveTo>
                  <a:pt x="0" y="0"/>
                </a:moveTo>
                <a:lnTo>
                  <a:pt x="3057525" y="0"/>
                </a:lnTo>
                <a:lnTo>
                  <a:pt x="3057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13277850" y="557212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14144625" y="1924050"/>
            <a:ext cx="228600" cy="7505700"/>
          </a:xfrm>
          <a:custGeom>
            <a:avLst/>
            <a:gdLst/>
            <a:ahLst/>
            <a:cxnLst/>
            <a:rect l="l" t="t" r="r" b="b"/>
            <a:pathLst>
              <a:path w="228600" h="7505700">
                <a:moveTo>
                  <a:pt x="0" y="0"/>
                </a:moveTo>
                <a:lnTo>
                  <a:pt x="228600" y="0"/>
                </a:lnTo>
                <a:lnTo>
                  <a:pt x="22860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TextBox 33"/>
          <p:cNvSpPr txBox="1"/>
          <p:nvPr/>
        </p:nvSpPr>
        <p:spPr>
          <a:xfrm>
            <a:off x="14831568" y="2228088"/>
            <a:ext cx="87782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357" b="1" spc="-47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Client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831568" y="2734532"/>
            <a:ext cx="2670048" cy="107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an intuitive interface for input and result display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831568" y="4568000"/>
            <a:ext cx="98755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2392" b="1" spc="-47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Server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831568" y="5029402"/>
            <a:ext cx="2615184" cy="157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 spc="-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Handles requests, processes data, and performs skill comparisons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31568" y="7273480"/>
            <a:ext cx="213969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2" b="1" spc="-45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Multithreading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831568" y="7829467"/>
            <a:ext cx="2359152" cy="142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14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Dedicated thread per client enables multiple users at the same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68096" y="1123240"/>
            <a:ext cx="9345168" cy="927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20"/>
              </a:lnSpc>
            </a:pPr>
            <a:r>
              <a:rPr lang="en-US" sz="6520" b="1" spc="-1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Working / System Flow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2781300"/>
            <a:ext cx="2619375" cy="1076325"/>
          </a:xfrm>
          <a:custGeom>
            <a:avLst/>
            <a:gdLst/>
            <a:ahLst/>
            <a:cxnLst/>
            <a:rect l="l" t="t" r="r" b="b"/>
            <a:pathLst>
              <a:path w="2619375" h="107632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517904" y="3136271"/>
            <a:ext cx="969264" cy="45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4"/>
              </a:lnSpc>
            </a:pPr>
            <a:r>
              <a:rPr lang="en-US" sz="3204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</a:rPr>
              <a:t>Skills</a:t>
            </a:r>
          </a:p>
        </p:txBody>
      </p:sp>
      <p:sp>
        <p:nvSpPr>
          <p:cNvPr id="6" name="Freeform 6"/>
          <p:cNvSpPr/>
          <p:nvPr/>
        </p:nvSpPr>
        <p:spPr>
          <a:xfrm>
            <a:off x="3257550" y="3000375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4133850" y="2781300"/>
            <a:ext cx="2619375" cy="1076325"/>
          </a:xfrm>
          <a:custGeom>
            <a:avLst/>
            <a:gdLst/>
            <a:ahLst/>
            <a:cxnLst/>
            <a:rect l="l" t="t" r="r" b="b"/>
            <a:pathLst>
              <a:path w="2619375" h="107632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4901184" y="3169014"/>
            <a:ext cx="1261872" cy="39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6"/>
              </a:lnSpc>
            </a:pPr>
            <a:r>
              <a:rPr lang="en-US" sz="2876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</a:rPr>
              <a:t>Career</a:t>
            </a:r>
          </a:p>
        </p:txBody>
      </p:sp>
      <p:sp>
        <p:nvSpPr>
          <p:cNvPr id="9" name="Freeform 9"/>
          <p:cNvSpPr/>
          <p:nvPr/>
        </p:nvSpPr>
        <p:spPr>
          <a:xfrm>
            <a:off x="6743700" y="30003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7620000" y="2781300"/>
            <a:ext cx="2619375" cy="1076325"/>
          </a:xfrm>
          <a:custGeom>
            <a:avLst/>
            <a:gdLst/>
            <a:ahLst/>
            <a:cxnLst/>
            <a:rect l="l" t="t" r="r" b="b"/>
            <a:pathLst>
              <a:path w="2619375" h="107632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8302752" y="3132551"/>
            <a:ext cx="1243584" cy="45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3122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</a:rPr>
              <a:t>Server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29850" y="30003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1096625" y="2781300"/>
            <a:ext cx="2619375" cy="1076325"/>
          </a:xfrm>
          <a:custGeom>
            <a:avLst/>
            <a:gdLst/>
            <a:ahLst/>
            <a:cxnLst/>
            <a:rect l="l" t="t" r="r" b="b"/>
            <a:pathLst>
              <a:path w="2619375" h="107632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1594592" y="3162949"/>
            <a:ext cx="1554480" cy="409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</a:pPr>
            <a:r>
              <a:rPr lang="en-US" sz="2978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716000" y="30003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4582775" y="2781300"/>
            <a:ext cx="2619375" cy="1076325"/>
          </a:xfrm>
          <a:custGeom>
            <a:avLst/>
            <a:gdLst/>
            <a:ahLst/>
            <a:cxnLst/>
            <a:rect l="l" t="t" r="r" b="b"/>
            <a:pathLst>
              <a:path w="2619375" h="107632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5233904" y="3147620"/>
            <a:ext cx="1170432" cy="430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3060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8096" y="4523613"/>
            <a:ext cx="245059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30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 SkillBridge and enter profile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8096" y="5720525"/>
            <a:ext cx="268833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3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input current skills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7136" y="4495038"/>
            <a:ext cx="188366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3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select target career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5824" y="4504563"/>
            <a:ext cx="2048256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22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 sends data to server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35824" y="5768340"/>
            <a:ext cx="234086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server creates and uses thread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10544" y="4523613"/>
            <a:ext cx="2779776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30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compare skills and calculate match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10544" y="5711190"/>
            <a:ext cx="2340864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 missing skills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85264" y="4572953"/>
            <a:ext cx="2688336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22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send recommendations back to client</a:t>
            </a:r>
          </a:p>
        </p:txBody>
      </p:sp>
      <p:sp>
        <p:nvSpPr>
          <p:cNvPr id="26" name="Freeform 26"/>
          <p:cNvSpPr/>
          <p:nvPr/>
        </p:nvSpPr>
        <p:spPr>
          <a:xfrm>
            <a:off x="647700" y="7067550"/>
            <a:ext cx="16992600" cy="2362200"/>
          </a:xfrm>
          <a:custGeom>
            <a:avLst/>
            <a:gdLst/>
            <a:ahLst/>
            <a:cxnLst/>
            <a:rect l="l" t="t" r="r" b="b"/>
            <a:pathLst>
              <a:path w="16992600" h="2362200">
                <a:moveTo>
                  <a:pt x="0" y="0"/>
                </a:moveTo>
                <a:lnTo>
                  <a:pt x="16992600" y="0"/>
                </a:lnTo>
                <a:lnTo>
                  <a:pt x="16992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1207008" y="8033229"/>
            <a:ext cx="2523744" cy="63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4437" b="1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</a:t>
            </a:r>
          </a:p>
        </p:txBody>
      </p:sp>
      <p:sp>
        <p:nvSpPr>
          <p:cNvPr id="28" name="Freeform 28"/>
          <p:cNvSpPr/>
          <p:nvPr/>
        </p:nvSpPr>
        <p:spPr>
          <a:xfrm>
            <a:off x="4133850" y="7715250"/>
            <a:ext cx="228600" cy="1285875"/>
          </a:xfrm>
          <a:custGeom>
            <a:avLst/>
            <a:gdLst/>
            <a:ahLst/>
            <a:cxnLst/>
            <a:rect l="l" t="t" r="r" b="b"/>
            <a:pathLst>
              <a:path w="228600" h="1285875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>
            <a:off x="4809744" y="7857268"/>
            <a:ext cx="2139696" cy="393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2737" spc="-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Current Skills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09744" y="8412099"/>
            <a:ext cx="314553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850" b="1" i="1" spc="-57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Java, HTML, Excel</a:t>
            </a:r>
          </a:p>
        </p:txBody>
      </p:sp>
      <p:sp>
        <p:nvSpPr>
          <p:cNvPr id="31" name="Freeform 31"/>
          <p:cNvSpPr/>
          <p:nvPr/>
        </p:nvSpPr>
        <p:spPr>
          <a:xfrm>
            <a:off x="8486775" y="7715250"/>
            <a:ext cx="228600" cy="1285875"/>
          </a:xfrm>
          <a:custGeom>
            <a:avLst/>
            <a:gdLst/>
            <a:ahLst/>
            <a:cxnLst/>
            <a:rect l="l" t="t" r="r" b="b"/>
            <a:pathLst>
              <a:path w="228600" h="1285875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9198864" y="7869174"/>
            <a:ext cx="1078992" cy="36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550" spc="-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Career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8864" y="8423053"/>
            <a:ext cx="2249424" cy="393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2737" b="1" i="1" spc="-54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Data Analyst</a:t>
            </a:r>
          </a:p>
        </p:txBody>
      </p:sp>
      <p:sp>
        <p:nvSpPr>
          <p:cNvPr id="34" name="Freeform 34"/>
          <p:cNvSpPr/>
          <p:nvPr/>
        </p:nvSpPr>
        <p:spPr>
          <a:xfrm>
            <a:off x="11972925" y="7715250"/>
            <a:ext cx="219075" cy="1285875"/>
          </a:xfrm>
          <a:custGeom>
            <a:avLst/>
            <a:gdLst/>
            <a:ahLst/>
            <a:cxnLst/>
            <a:rect l="l" t="t" r="r" b="b"/>
            <a:pathLst>
              <a:path w="219075" h="1285875">
                <a:moveTo>
                  <a:pt x="0" y="0"/>
                </a:moveTo>
                <a:lnTo>
                  <a:pt x="219075" y="0"/>
                </a:lnTo>
                <a:lnTo>
                  <a:pt x="219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TextBox 35"/>
          <p:cNvSpPr txBox="1"/>
          <p:nvPr/>
        </p:nvSpPr>
        <p:spPr>
          <a:xfrm>
            <a:off x="12765024" y="7857744"/>
            <a:ext cx="2103120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 spc="-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Missing Skills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65024" y="8430673"/>
            <a:ext cx="4279392" cy="397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887" b="1" i="1" spc="-57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SQL, Power BI,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40080" y="769495"/>
            <a:ext cx="10314432" cy="964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864" b="1" spc="-2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&amp; Modules</a:t>
            </a:r>
          </a:p>
        </p:txBody>
      </p:sp>
      <p:sp>
        <p:nvSpPr>
          <p:cNvPr id="4" name="Freeform 4"/>
          <p:cNvSpPr/>
          <p:nvPr/>
        </p:nvSpPr>
        <p:spPr>
          <a:xfrm>
            <a:off x="428625" y="2352675"/>
            <a:ext cx="3057525" cy="866775"/>
          </a:xfrm>
          <a:custGeom>
            <a:avLst/>
            <a:gdLst/>
            <a:ahLst/>
            <a:cxnLst/>
            <a:rect l="l" t="t" r="r" b="b"/>
            <a:pathLst>
              <a:path w="3057525" h="866775">
                <a:moveTo>
                  <a:pt x="0" y="0"/>
                </a:moveTo>
                <a:lnTo>
                  <a:pt x="3057525" y="0"/>
                </a:lnTo>
                <a:lnTo>
                  <a:pt x="3057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87552" y="2640467"/>
            <a:ext cx="2194560" cy="31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2224" b="1">
                <a:solidFill>
                  <a:srgbClr val="00003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TECHNOLOGIES</a:t>
            </a:r>
          </a:p>
        </p:txBody>
      </p:sp>
      <p:sp>
        <p:nvSpPr>
          <p:cNvPr id="6" name="Freeform 6"/>
          <p:cNvSpPr/>
          <p:nvPr/>
        </p:nvSpPr>
        <p:spPr>
          <a:xfrm>
            <a:off x="866775" y="4067175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00784" y="4514231"/>
            <a:ext cx="2834640" cy="29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3"/>
              </a:lnSpc>
            </a:pPr>
            <a:r>
              <a:rPr lang="en-US" sz="2043" b="1" i="1">
                <a:solidFill>
                  <a:srgbClr val="38B6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Socket Programming</a:t>
            </a:r>
          </a:p>
        </p:txBody>
      </p:sp>
      <p:sp>
        <p:nvSpPr>
          <p:cNvPr id="8" name="Freeform 8"/>
          <p:cNvSpPr/>
          <p:nvPr/>
        </p:nvSpPr>
        <p:spPr>
          <a:xfrm>
            <a:off x="866775" y="4924425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866775" y="6000750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866775" y="6858000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866775" y="7715250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987552" y="8216021"/>
            <a:ext cx="987552" cy="31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2224" b="1" i="1">
                <a:solidFill>
                  <a:srgbClr val="FFFF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MySQL</a:t>
            </a:r>
          </a:p>
        </p:txBody>
      </p:sp>
      <p:sp>
        <p:nvSpPr>
          <p:cNvPr id="13" name="Freeform 13"/>
          <p:cNvSpPr/>
          <p:nvPr/>
        </p:nvSpPr>
        <p:spPr>
          <a:xfrm>
            <a:off x="5657850" y="2352675"/>
            <a:ext cx="5667375" cy="6648450"/>
          </a:xfrm>
          <a:custGeom>
            <a:avLst/>
            <a:gdLst/>
            <a:ahLst/>
            <a:cxnLst/>
            <a:rect l="l" t="t" r="r" b="b"/>
            <a:pathLst>
              <a:path w="5667375" h="6648450">
                <a:moveTo>
                  <a:pt x="0" y="0"/>
                </a:moveTo>
                <a:lnTo>
                  <a:pt x="5667375" y="0"/>
                </a:lnTo>
                <a:lnTo>
                  <a:pt x="56673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5657850" y="3000375"/>
            <a:ext cx="228600" cy="6000750"/>
          </a:xfrm>
          <a:custGeom>
            <a:avLst/>
            <a:gdLst/>
            <a:ahLst/>
            <a:cxnLst/>
            <a:rect l="l" t="t" r="r" b="b"/>
            <a:pathLst>
              <a:path w="228600" h="6000750">
                <a:moveTo>
                  <a:pt x="0" y="0"/>
                </a:moveTo>
                <a:lnTo>
                  <a:pt x="228600" y="0"/>
                </a:lnTo>
                <a:lnTo>
                  <a:pt x="2286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254496" y="2640467"/>
            <a:ext cx="2103120" cy="31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2224" b="1">
                <a:solidFill>
                  <a:srgbClr val="00003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MODULES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32320" y="3428024"/>
            <a:ext cx="2578608" cy="30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</a:pPr>
            <a:r>
              <a:rPr lang="en-US" sz="2146" b="1" i="1">
                <a:solidFill>
                  <a:srgbClr val="FFFF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Login / User Profile</a:t>
            </a:r>
          </a:p>
        </p:txBody>
      </p:sp>
      <p:sp>
        <p:nvSpPr>
          <p:cNvPr id="17" name="Freeform 17"/>
          <p:cNvSpPr/>
          <p:nvPr/>
        </p:nvSpPr>
        <p:spPr>
          <a:xfrm>
            <a:off x="8267700" y="363855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7754112" y="4106638"/>
            <a:ext cx="1353312" cy="30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2172" b="1" i="1">
                <a:solidFill>
                  <a:srgbClr val="FFFF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Skill </a:t>
            </a:r>
            <a:r>
              <a:rPr lang="en-US" sz="21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Input</a:t>
            </a:r>
          </a:p>
        </p:txBody>
      </p:sp>
      <p:sp>
        <p:nvSpPr>
          <p:cNvPr id="19" name="Freeform 19"/>
          <p:cNvSpPr/>
          <p:nvPr/>
        </p:nvSpPr>
        <p:spPr>
          <a:xfrm>
            <a:off x="8267700" y="428625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7315200" y="4780276"/>
            <a:ext cx="2249424" cy="28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2095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Career </a:t>
            </a:r>
            <a:r>
              <a:rPr lang="en-US" sz="2095" b="1">
                <a:solidFill>
                  <a:srgbClr val="38B6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Selection</a:t>
            </a:r>
          </a:p>
        </p:txBody>
      </p:sp>
      <p:sp>
        <p:nvSpPr>
          <p:cNvPr id="21" name="Freeform 21"/>
          <p:cNvSpPr/>
          <p:nvPr/>
        </p:nvSpPr>
        <p:spPr>
          <a:xfrm>
            <a:off x="8267700" y="4924425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7479792" y="5448931"/>
            <a:ext cx="1938528" cy="28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2095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Skill </a:t>
            </a:r>
            <a:r>
              <a:rPr lang="en-US" sz="2095" b="1">
                <a:solidFill>
                  <a:srgbClr val="38B6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Database</a:t>
            </a:r>
          </a:p>
        </p:txBody>
      </p:sp>
      <p:sp>
        <p:nvSpPr>
          <p:cNvPr id="23" name="Freeform 23"/>
          <p:cNvSpPr/>
          <p:nvPr/>
        </p:nvSpPr>
        <p:spPr>
          <a:xfrm>
            <a:off x="8267700" y="557212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7242048" y="6107299"/>
            <a:ext cx="2377440" cy="28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2095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Skill Gap </a:t>
            </a:r>
            <a:r>
              <a:rPr lang="en-US" sz="2095" b="1">
                <a:solidFill>
                  <a:srgbClr val="38B6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Analysis</a:t>
            </a:r>
          </a:p>
        </p:txBody>
      </p:sp>
      <p:sp>
        <p:nvSpPr>
          <p:cNvPr id="25" name="Freeform 25"/>
          <p:cNvSpPr/>
          <p:nvPr/>
        </p:nvSpPr>
        <p:spPr>
          <a:xfrm>
            <a:off x="8267700" y="642937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6382512" y="6775954"/>
            <a:ext cx="4133088" cy="28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5"/>
              </a:lnSpc>
            </a:pPr>
            <a:r>
              <a:rPr lang="en-US" sz="2095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Match Percentage </a:t>
            </a:r>
            <a:r>
              <a:rPr lang="en-US" sz="2095" b="1">
                <a:solidFill>
                  <a:srgbClr val="38B6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Calculation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8267700" y="706755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7150608" y="7466272"/>
            <a:ext cx="2560320" cy="2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9"/>
              </a:lnSpc>
            </a:pPr>
            <a:r>
              <a:rPr lang="en-US" sz="2069" b="1">
                <a:solidFill>
                  <a:srgbClr val="38B6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Recommendations</a:t>
            </a:r>
          </a:p>
        </p:txBody>
      </p:sp>
      <p:sp>
        <p:nvSpPr>
          <p:cNvPr id="29" name="Freeform 29"/>
          <p:cNvSpPr/>
          <p:nvPr/>
        </p:nvSpPr>
        <p:spPr>
          <a:xfrm>
            <a:off x="8267700" y="771525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TextBox 30"/>
          <p:cNvSpPr txBox="1"/>
          <p:nvPr/>
        </p:nvSpPr>
        <p:spPr>
          <a:xfrm>
            <a:off x="6400800" y="8227510"/>
            <a:ext cx="4096512" cy="2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9"/>
              </a:lnSpc>
            </a:pPr>
            <a:r>
              <a:rPr lang="en-US" sz="206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Client-Server </a:t>
            </a:r>
            <a:r>
              <a:rPr lang="en-US" sz="2069" b="1">
                <a:solidFill>
                  <a:srgbClr val="38B6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Communication</a:t>
            </a:r>
          </a:p>
        </p:txBody>
      </p:sp>
      <p:sp>
        <p:nvSpPr>
          <p:cNvPr id="31" name="Freeform 31"/>
          <p:cNvSpPr/>
          <p:nvPr/>
        </p:nvSpPr>
        <p:spPr>
          <a:xfrm>
            <a:off x="9353550" y="2352675"/>
            <a:ext cx="8724900" cy="7505700"/>
          </a:xfrm>
          <a:custGeom>
            <a:avLst/>
            <a:gdLst/>
            <a:ahLst/>
            <a:cxnLst/>
            <a:rect l="l" t="t" r="r" b="b"/>
            <a:pathLst>
              <a:path w="8724900" h="7505700">
                <a:moveTo>
                  <a:pt x="0" y="0"/>
                </a:moveTo>
                <a:lnTo>
                  <a:pt x="8724900" y="0"/>
                </a:lnTo>
                <a:lnTo>
                  <a:pt x="872490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987552" y="3609850"/>
            <a:ext cx="621792" cy="267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1914" b="1" i="1">
                <a:solidFill>
                  <a:srgbClr val="FFFF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Java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7552" y="4519648"/>
            <a:ext cx="621792" cy="27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Java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7552" y="5428244"/>
            <a:ext cx="1225296" cy="31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22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49424" y="5428244"/>
            <a:ext cx="2322576" cy="31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2224" b="1" i="1">
                <a:solidFill>
                  <a:srgbClr val="38B6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Architecture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87552" y="6385048"/>
            <a:ext cx="2029968" cy="28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5"/>
              </a:lnSpc>
            </a:pPr>
            <a:r>
              <a:rPr lang="en-US" sz="2095" b="1" i="1">
                <a:solidFill>
                  <a:srgbClr val="FFFF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Multithreading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7552" y="7290191"/>
            <a:ext cx="621792" cy="31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22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00784" y="7290191"/>
            <a:ext cx="1298448" cy="31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2224" b="1" i="1">
                <a:solidFill>
                  <a:srgbClr val="38B6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Frontend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21792" y="677227"/>
            <a:ext cx="1241755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42"/>
              </a:lnSpc>
            </a:pPr>
            <a:r>
              <a:rPr lang="en-US" sz="6452" b="1" spc="-1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Roles &amp; Expected Output</a:t>
            </a:r>
          </a:p>
        </p:txBody>
      </p:sp>
      <p:sp>
        <p:nvSpPr>
          <p:cNvPr id="4" name="Freeform 4"/>
          <p:cNvSpPr/>
          <p:nvPr/>
        </p:nvSpPr>
        <p:spPr>
          <a:xfrm>
            <a:off x="428625" y="2143125"/>
            <a:ext cx="10239375" cy="2571750"/>
          </a:xfrm>
          <a:custGeom>
            <a:avLst/>
            <a:gdLst/>
            <a:ahLst/>
            <a:cxnLst/>
            <a:rect l="l" t="t" r="r" b="b"/>
            <a:pathLst>
              <a:path w="10239375" h="2571750">
                <a:moveTo>
                  <a:pt x="0" y="0"/>
                </a:moveTo>
                <a:lnTo>
                  <a:pt x="10239375" y="0"/>
                </a:lnTo>
                <a:lnTo>
                  <a:pt x="10239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152144" y="2985706"/>
            <a:ext cx="151790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9"/>
              </a:lnSpc>
            </a:pPr>
            <a:r>
              <a:rPr lang="en-US" sz="4307" b="1" spc="-86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Swati</a:t>
            </a:r>
          </a:p>
        </p:txBody>
      </p:sp>
      <p:sp>
        <p:nvSpPr>
          <p:cNvPr id="6" name="Freeform 6"/>
          <p:cNvSpPr/>
          <p:nvPr/>
        </p:nvSpPr>
        <p:spPr>
          <a:xfrm>
            <a:off x="3257550" y="2352675"/>
            <a:ext cx="228600" cy="1933575"/>
          </a:xfrm>
          <a:custGeom>
            <a:avLst/>
            <a:gdLst/>
            <a:ahLst/>
            <a:cxnLst/>
            <a:rect l="l" t="t" r="r" b="b"/>
            <a:pathLst>
              <a:path w="228600" h="1933575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3767328" y="2537841"/>
            <a:ext cx="299923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662" b="1" i="1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Frontend &amp; UI/UX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67328" y="3177921"/>
            <a:ext cx="5907024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Builds user interface, input screens, career selection, result display, recommendations, and frontend integration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428625" y="4495800"/>
            <a:ext cx="10239375" cy="2790825"/>
          </a:xfrm>
          <a:custGeom>
            <a:avLst/>
            <a:gdLst/>
            <a:ahLst/>
            <a:cxnLst/>
            <a:rect l="l" t="t" r="r" b="b"/>
            <a:pathLst>
              <a:path w="10239375" h="2790825">
                <a:moveTo>
                  <a:pt x="0" y="0"/>
                </a:moveTo>
                <a:lnTo>
                  <a:pt x="10239375" y="0"/>
                </a:lnTo>
                <a:lnTo>
                  <a:pt x="10239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152144" y="5541645"/>
            <a:ext cx="1353312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3"/>
              </a:lnSpc>
            </a:pPr>
            <a:r>
              <a:rPr lang="en-US" sz="4110" b="1" spc="-82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Vidhi</a:t>
            </a:r>
          </a:p>
        </p:txBody>
      </p:sp>
      <p:sp>
        <p:nvSpPr>
          <p:cNvPr id="11" name="Freeform 11"/>
          <p:cNvSpPr/>
          <p:nvPr/>
        </p:nvSpPr>
        <p:spPr>
          <a:xfrm>
            <a:off x="3257550" y="4924425"/>
            <a:ext cx="228600" cy="1933575"/>
          </a:xfrm>
          <a:custGeom>
            <a:avLst/>
            <a:gdLst/>
            <a:ahLst/>
            <a:cxnLst/>
            <a:rect l="l" t="t" r="r" b="b"/>
            <a:pathLst>
              <a:path w="228600" h="1933575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3767328" y="5047869"/>
            <a:ext cx="312724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1" i="1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Client &amp; Database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67328" y="5668899"/>
            <a:ext cx="5541264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30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Manages client communication, data exchange, database management, and student/career data</a:t>
            </a:r>
          </a:p>
        </p:txBody>
      </p:sp>
      <p:sp>
        <p:nvSpPr>
          <p:cNvPr id="14" name="Freeform 14"/>
          <p:cNvSpPr/>
          <p:nvPr/>
        </p:nvSpPr>
        <p:spPr>
          <a:xfrm>
            <a:off x="428625" y="7067550"/>
            <a:ext cx="10239375" cy="2581275"/>
          </a:xfrm>
          <a:custGeom>
            <a:avLst/>
            <a:gdLst/>
            <a:ahLst/>
            <a:cxnLst/>
            <a:rect l="l" t="t" r="r" b="b"/>
            <a:pathLst>
              <a:path w="10239375" h="2581275">
                <a:moveTo>
                  <a:pt x="0" y="0"/>
                </a:moveTo>
                <a:lnTo>
                  <a:pt x="10239375" y="0"/>
                </a:lnTo>
                <a:lnTo>
                  <a:pt x="10239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877824" y="8078533"/>
            <a:ext cx="2212848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4176" b="1" spc="-83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Paritosh</a:t>
            </a:r>
          </a:p>
        </p:txBody>
      </p:sp>
      <p:sp>
        <p:nvSpPr>
          <p:cNvPr id="16" name="Freeform 16"/>
          <p:cNvSpPr/>
          <p:nvPr/>
        </p:nvSpPr>
        <p:spPr>
          <a:xfrm>
            <a:off x="3257550" y="7286625"/>
            <a:ext cx="228600" cy="2143125"/>
          </a:xfrm>
          <a:custGeom>
            <a:avLst/>
            <a:gdLst/>
            <a:ahLst/>
            <a:cxnLst/>
            <a:rect l="l" t="t" r="r" b="b"/>
            <a:pathLst>
              <a:path w="228600" h="2143125">
                <a:moveTo>
                  <a:pt x="0" y="0"/>
                </a:moveTo>
                <a:lnTo>
                  <a:pt x="228600" y="0"/>
                </a:lnTo>
                <a:lnTo>
                  <a:pt x="228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3767328" y="7784211"/>
            <a:ext cx="413308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1" i="1">
                <a:solidFill>
                  <a:srgbClr val="38B6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Server &amp; Multithreading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67328" y="8360664"/>
            <a:ext cx="5596128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2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Handles server coding, socket handling, multitreading, and skill analysis logic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668000" y="3000375"/>
            <a:ext cx="657225" cy="5791200"/>
          </a:xfrm>
          <a:custGeom>
            <a:avLst/>
            <a:gdLst/>
            <a:ahLst/>
            <a:cxnLst/>
            <a:rect l="l" t="t" r="r" b="b"/>
            <a:pathLst>
              <a:path w="657225" h="5791200">
                <a:moveTo>
                  <a:pt x="0" y="0"/>
                </a:moveTo>
                <a:lnTo>
                  <a:pt x="657225" y="0"/>
                </a:lnTo>
                <a:lnTo>
                  <a:pt x="6572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1096625" y="5572125"/>
            <a:ext cx="885825" cy="428625"/>
          </a:xfrm>
          <a:custGeom>
            <a:avLst/>
            <a:gdLst/>
            <a:ahLst/>
            <a:cxnLst/>
            <a:rect l="l" t="t" r="r" b="b"/>
            <a:pathLst>
              <a:path w="885825" h="428625">
                <a:moveTo>
                  <a:pt x="0" y="0"/>
                </a:moveTo>
                <a:lnTo>
                  <a:pt x="885825" y="0"/>
                </a:lnTo>
                <a:lnTo>
                  <a:pt x="885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11753850" y="2143125"/>
            <a:ext cx="6105525" cy="7505700"/>
          </a:xfrm>
          <a:custGeom>
            <a:avLst/>
            <a:gdLst/>
            <a:ahLst/>
            <a:cxnLst/>
            <a:rect l="l" t="t" r="r" b="b"/>
            <a:pathLst>
              <a:path w="6105525" h="7505700">
                <a:moveTo>
                  <a:pt x="0" y="0"/>
                </a:moveTo>
                <a:lnTo>
                  <a:pt x="6105525" y="0"/>
                </a:lnTo>
                <a:lnTo>
                  <a:pt x="6105525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2399264" y="2621661"/>
            <a:ext cx="3438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887" b="1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OUTPUT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192000" y="3000375"/>
            <a:ext cx="5229225" cy="219075"/>
          </a:xfrm>
          <a:custGeom>
            <a:avLst/>
            <a:gdLst/>
            <a:ahLst/>
            <a:cxnLst/>
            <a:rect l="l" t="t" r="r" b="b"/>
            <a:pathLst>
              <a:path w="5229225" h="219075">
                <a:moveTo>
                  <a:pt x="0" y="0"/>
                </a:moveTo>
                <a:lnTo>
                  <a:pt x="5229225" y="0"/>
                </a:lnTo>
                <a:lnTo>
                  <a:pt x="5229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2399264" y="3725608"/>
            <a:ext cx="387705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Skill Match Percentage</a:t>
            </a:r>
          </a:p>
        </p:txBody>
      </p:sp>
      <p:sp>
        <p:nvSpPr>
          <p:cNvPr id="25" name="Freeform 25"/>
          <p:cNvSpPr/>
          <p:nvPr/>
        </p:nvSpPr>
        <p:spPr>
          <a:xfrm>
            <a:off x="12192000" y="4286250"/>
            <a:ext cx="5229225" cy="219075"/>
          </a:xfrm>
          <a:custGeom>
            <a:avLst/>
            <a:gdLst/>
            <a:ahLst/>
            <a:cxnLst/>
            <a:rect l="l" t="t" r="r" b="b"/>
            <a:pathLst>
              <a:path w="5229225" h="219075">
                <a:moveTo>
                  <a:pt x="0" y="0"/>
                </a:moveTo>
                <a:lnTo>
                  <a:pt x="5229225" y="0"/>
                </a:lnTo>
                <a:lnTo>
                  <a:pt x="5229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12399264" y="4852416"/>
            <a:ext cx="235915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6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Skills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192000" y="5572125"/>
            <a:ext cx="5229225" cy="219075"/>
          </a:xfrm>
          <a:custGeom>
            <a:avLst/>
            <a:gdLst/>
            <a:ahLst/>
            <a:cxnLst/>
            <a:rect l="l" t="t" r="r" b="b"/>
            <a:pathLst>
              <a:path w="5229225" h="219075">
                <a:moveTo>
                  <a:pt x="0" y="0"/>
                </a:moveTo>
                <a:lnTo>
                  <a:pt x="5229225" y="0"/>
                </a:lnTo>
                <a:lnTo>
                  <a:pt x="5229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12399264" y="5959411"/>
            <a:ext cx="23591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Missing Skills</a:t>
            </a:r>
          </a:p>
        </p:txBody>
      </p:sp>
      <p:sp>
        <p:nvSpPr>
          <p:cNvPr id="29" name="Freeform 29"/>
          <p:cNvSpPr/>
          <p:nvPr/>
        </p:nvSpPr>
        <p:spPr>
          <a:xfrm>
            <a:off x="12192000" y="6638925"/>
            <a:ext cx="5229225" cy="219075"/>
          </a:xfrm>
          <a:custGeom>
            <a:avLst/>
            <a:gdLst/>
            <a:ahLst/>
            <a:cxnLst/>
            <a:rect l="l" t="t" r="r" b="b"/>
            <a:pathLst>
              <a:path w="5229225" h="219075">
                <a:moveTo>
                  <a:pt x="0" y="0"/>
                </a:moveTo>
                <a:lnTo>
                  <a:pt x="5229225" y="0"/>
                </a:lnTo>
                <a:lnTo>
                  <a:pt x="5229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TextBox 30"/>
          <p:cNvSpPr txBox="1"/>
          <p:nvPr/>
        </p:nvSpPr>
        <p:spPr>
          <a:xfrm>
            <a:off x="12399264" y="7110031"/>
            <a:ext cx="356616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Recommended Skills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2192000" y="7715250"/>
            <a:ext cx="5229225" cy="219075"/>
          </a:xfrm>
          <a:custGeom>
            <a:avLst/>
            <a:gdLst/>
            <a:ahLst/>
            <a:cxnLst/>
            <a:rect l="l" t="t" r="r" b="b"/>
            <a:pathLst>
              <a:path w="5229225" h="219075">
                <a:moveTo>
                  <a:pt x="0" y="0"/>
                </a:moveTo>
                <a:lnTo>
                  <a:pt x="5229225" y="0"/>
                </a:lnTo>
                <a:lnTo>
                  <a:pt x="5229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12399264" y="8329422"/>
            <a:ext cx="427939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Career Readiness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106775" y="2352675"/>
            <a:ext cx="2181225" cy="4505325"/>
          </a:xfrm>
          <a:custGeom>
            <a:avLst/>
            <a:gdLst/>
            <a:ahLst/>
            <a:cxnLst/>
            <a:rect l="l" t="t" r="r" b="b"/>
            <a:pathLst>
              <a:path w="2181225" h="4505325">
                <a:moveTo>
                  <a:pt x="0" y="0"/>
                </a:moveTo>
                <a:lnTo>
                  <a:pt x="2181225" y="0"/>
                </a:lnTo>
                <a:lnTo>
                  <a:pt x="218122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6106775" y="6638925"/>
            <a:ext cx="2181225" cy="1076325"/>
          </a:xfrm>
          <a:custGeom>
            <a:avLst/>
            <a:gdLst/>
            <a:ahLst/>
            <a:cxnLst/>
            <a:rect l="l" t="t" r="r" b="b"/>
            <a:pathLst>
              <a:path w="2181225" h="1076325">
                <a:moveTo>
                  <a:pt x="0" y="0"/>
                </a:moveTo>
                <a:lnTo>
                  <a:pt x="2181225" y="0"/>
                </a:lnTo>
                <a:lnTo>
                  <a:pt x="2181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8486775" y="2143125"/>
            <a:ext cx="9801225" cy="7505700"/>
          </a:xfrm>
          <a:custGeom>
            <a:avLst/>
            <a:gdLst/>
            <a:ahLst/>
            <a:cxnLst/>
            <a:rect l="l" t="t" r="r" b="b"/>
            <a:pathLst>
              <a:path w="9801225" h="7505700">
                <a:moveTo>
                  <a:pt x="0" y="0"/>
                </a:moveTo>
                <a:lnTo>
                  <a:pt x="9801225" y="0"/>
                </a:lnTo>
                <a:lnTo>
                  <a:pt x="9801225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676656" y="542163"/>
            <a:ext cx="11448288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82"/>
              </a:lnSpc>
            </a:pPr>
            <a:r>
              <a:rPr lang="en-US" sz="7068" b="1" spc="-2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 &amp;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6656" y="2143697"/>
            <a:ext cx="246888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1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WHAT’S NEXT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6656" y="2756845"/>
            <a:ext cx="5340096" cy="239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AI-driven skill recommendations</a:t>
            </a:r>
          </a:p>
          <a:p>
            <a:pPr algn="l">
              <a:lnSpc>
                <a:spcPts val="3187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Resume skill analysis integration</a:t>
            </a:r>
          </a:p>
          <a:p>
            <a:pPr algn="l">
              <a:lnSpc>
                <a:spcPts val="3187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Course recommendations based on gaps</a:t>
            </a:r>
          </a:p>
          <a:p>
            <a:pPr algn="l">
              <a:lnSpc>
                <a:spcPts val="3187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Job-market skill trend analysis</a:t>
            </a:r>
          </a:p>
          <a:p>
            <a:pPr algn="l">
              <a:lnSpc>
                <a:spcPts val="3187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Personalized learning roadmap</a:t>
            </a:r>
          </a:p>
          <a:p>
            <a:pPr algn="l">
              <a:lnSpc>
                <a:spcPts val="3187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Progress tracking and job matching</a:t>
            </a:r>
          </a:p>
        </p:txBody>
      </p:sp>
      <p:sp>
        <p:nvSpPr>
          <p:cNvPr id="9" name="Freeform 9"/>
          <p:cNvSpPr/>
          <p:nvPr/>
        </p:nvSpPr>
        <p:spPr>
          <a:xfrm>
            <a:off x="647700" y="5353050"/>
            <a:ext cx="7191375" cy="438150"/>
          </a:xfrm>
          <a:custGeom>
            <a:avLst/>
            <a:gdLst/>
            <a:ahLst/>
            <a:cxnLst/>
            <a:rect l="l" t="t" r="r" b="b"/>
            <a:pathLst>
              <a:path w="7191375" h="438150">
                <a:moveTo>
                  <a:pt x="0" y="0"/>
                </a:moveTo>
                <a:lnTo>
                  <a:pt x="7191375" y="0"/>
                </a:lnTo>
                <a:lnTo>
                  <a:pt x="7191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676656" y="5888926"/>
            <a:ext cx="219456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THE IMPACT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6656" y="6514302"/>
            <a:ext cx="7040880" cy="1768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Personalized skill-gap analysis system</a:t>
            </a:r>
          </a:p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Helps students understand career requirements clearly</a:t>
            </a:r>
          </a:p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Supports multiple users simultaneously</a:t>
            </a:r>
          </a:p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Demonstrates Java networking and multitreading</a:t>
            </a:r>
          </a:p>
          <a:p>
            <a:pPr algn="l">
              <a:lnSpc>
                <a:spcPts val="2789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Empowers better career decisions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6656" y="8634031"/>
            <a:ext cx="4681728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8"/>
              </a:lnSpc>
            </a:pPr>
            <a:r>
              <a:rPr lang="en-US" sz="7257" b="1" spc="-290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569</Words>
  <Application>Microsoft Office PowerPoint</Application>
  <PresentationFormat>Custom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Poppins</vt:lpstr>
      <vt:lpstr>Calibri</vt:lpstr>
      <vt:lpstr>Poppins Heavy</vt:lpstr>
      <vt:lpstr>Poppins Bold</vt:lpstr>
      <vt:lpstr>Poppins Semi-Bold</vt:lpstr>
      <vt:lpstr>Poppins Semi-Bold Italics</vt:lpstr>
      <vt:lpstr>Poppins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varunitomar8@outlook.com</cp:lastModifiedBy>
  <cp:revision>1</cp:revision>
  <dcterms:created xsi:type="dcterms:W3CDTF">2006-08-16T00:00:00Z</dcterms:created>
  <dcterms:modified xsi:type="dcterms:W3CDTF">2026-09-11T18:11:56Z</dcterms:modified>
  <dc:identifier>DAHU0jr1FlM</dc:identifier>
</cp:coreProperties>
</file>